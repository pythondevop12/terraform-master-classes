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Terraform?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Infrastructure as Code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0" y="2651760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00C9A7">
              <a:alpha val="20000"/>
            </a:srgbClr>
          </a:solidFill>
          <a:ln w="1524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0" y="2651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</a:rPr>
              <a:t>Episode 01  •  Terraform Series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2A4"/>
                </a:solidFill>
              </a:rPr>
              <a:t>PythonDevOps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109728" cy="109728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1371600"/>
            <a:ext cx="109728" cy="109728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4114800"/>
            <a:ext cx="109728" cy="109728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097280"/>
            <a:ext cx="109728" cy="109728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Old Way 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560320" cy="3291840"/>
          </a:xfrm>
          <a:prstGeom prst="rect">
            <a:avLst/>
          </a:prstGeom>
          <a:solidFill>
            <a:srgbClr val="1E0A0A"/>
          </a:solidFill>
          <a:ln w="10160">
            <a:solidFill>
              <a:srgbClr val="FF5C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2560320" cy="54864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80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🖱️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5C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Click. Click. Click.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6974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CDD8"/>
                </a:solidFill>
              </a:rPr>
              <a:t>4 hours in the AWS console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5CDD8"/>
                </a:solidFill>
              </a:rPr>
              <a:t>creating VPC, subnets, SGs manually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560320" cy="3291840"/>
          </a:xfrm>
          <a:prstGeom prst="rect">
            <a:avLst/>
          </a:prstGeom>
          <a:solidFill>
            <a:srgbClr val="1E0A0A"/>
          </a:solidFill>
          <a:ln w="10160">
            <a:solidFill>
              <a:srgbClr val="FF5C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051560"/>
            <a:ext cx="2560320" cy="54864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280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📋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37560" y="21031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5C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 a 10-page Wiki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26974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CDD8"/>
                </a:solidFill>
              </a:rPr>
              <a:t>"Step 3: scroll down, click the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5CDD8"/>
                </a:solidFill>
              </a:rPr>
              <a:t>thing that says something-subnet"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051560"/>
            <a:ext cx="2560320" cy="3291840"/>
          </a:xfrm>
          <a:prstGeom prst="rect">
            <a:avLst/>
          </a:prstGeom>
          <a:solidFill>
            <a:srgbClr val="1E0A0A"/>
          </a:solidFill>
          <a:ln w="10160">
            <a:solidFill>
              <a:srgbClr val="FF5C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051560"/>
            <a:ext cx="2560320" cy="54864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280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🔥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172200" y="21031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5C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 breaks. Start over.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2200" y="26974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CDD8"/>
                </a:solidFill>
              </a:rPr>
              <a:t>No way to recreate it.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5CDD8"/>
                </a:solidFill>
              </a:rPr>
              <a:t>No history. No audit trail.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C9A7"/>
                </a:solidFill>
              </a:rPr>
              <a:t>Sound familiar? 👇 There's a better way.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IaC?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657600" cy="3474720"/>
          </a:xfrm>
          <a:prstGeom prst="rect">
            <a:avLst/>
          </a:prstGeom>
          <a:solidFill>
            <a:srgbClr val="180808"/>
          </a:solidFill>
          <a:ln w="10160">
            <a:solidFill>
              <a:srgbClr val="FF5C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3657600" cy="411480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❌  Manual / Old Way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CDD8"/>
                </a:solidFill>
              </a:rPr>
              <a:t>1.  Login to AWS Console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19476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CDD8"/>
                </a:solidFill>
              </a:rPr>
              <a:t>2.  Click through 12 screens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238658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CDD8"/>
                </a:solidFill>
              </a:rPr>
              <a:t>3.  Create VPC manually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282549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CDD8"/>
                </a:solidFill>
              </a:rPr>
              <a:t>4.  Repeat for staging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32644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CDD8"/>
                </a:solidFill>
              </a:rPr>
              <a:t>5.  Repeat for prod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37033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CDD8"/>
                </a:solidFill>
              </a:rPr>
              <a:t>6.  Pray nothing breaks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0" y="960120"/>
            <a:ext cx="3749040" cy="3474720"/>
          </a:xfrm>
          <a:prstGeom prst="rect">
            <a:avLst/>
          </a:prstGeom>
          <a:solidFill>
            <a:srgbClr val="071812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960120"/>
            <a:ext cx="3749040" cy="411480"/>
          </a:xfrm>
          <a:prstGeom prst="rect">
            <a:avLst/>
          </a:prstGeom>
          <a:solidFill>
            <a:srgbClr val="009E8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960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IaC / Terraform Way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166360" y="1508760"/>
            <a:ext cx="3474720" cy="2697480"/>
          </a:xfrm>
          <a:prstGeom prst="rect">
            <a:avLst/>
          </a:prstGeom>
          <a:solidFill>
            <a:srgbClr val="0A1A10"/>
          </a:solidFill>
          <a:ln w="6350">
            <a:solidFill>
              <a:srgbClr val="1E3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16002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"aws_vpc" "main" {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0" y="19933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cidr_block = "10.0.0.0/16"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0" y="238658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 = {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0" y="277977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 = "prod"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0" y="31729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03520" y="35661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23360" y="23774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3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C9A7"/>
                </a:solidFill>
              </a:rPr>
              <a:t>Infrastructure described as code → stored in Git → reviewed → automated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Reasons IaC Changes Everything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06040" cy="3566160"/>
          </a:xfrm>
          <a:prstGeom prst="rect">
            <a:avLst/>
          </a:prstGeom>
          <a:solidFill>
            <a:srgbClr val="1A1F2E"/>
          </a:solidFill>
          <a:ln w="762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260604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143000"/>
            <a:ext cx="457200" cy="365760"/>
          </a:xfrm>
          <a:prstGeom prst="rect">
            <a:avLst/>
          </a:prstGeom>
          <a:solidFill>
            <a:srgbClr val="00C9A7">
              <a:alpha val="20000"/>
            </a:srgbClr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143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♻️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Repeatability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" y="29718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5CDD8"/>
                </a:solidFill>
              </a:rPr>
              <a:t>Same code. Same infra. Every time.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5CDD8"/>
                </a:solidFill>
              </a:rPr>
              <a:t>Dev = Staging = Prod. No more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5CDD8"/>
                </a:solidFill>
              </a:rPr>
              <a:t>"works on my environment" infra.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606040" cy="3566160"/>
          </a:xfrm>
          <a:prstGeom prst="rect">
            <a:avLst/>
          </a:prstGeom>
          <a:solidFill>
            <a:srgbClr val="1A1F2E"/>
          </a:solidFill>
          <a:ln w="7620">
            <a:solidFill>
              <a:srgbClr val="00C9A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005840"/>
            <a:ext cx="260604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64992" y="1143000"/>
            <a:ext cx="457200" cy="365760"/>
          </a:xfrm>
          <a:prstGeom prst="rect">
            <a:avLst/>
          </a:prstGeom>
          <a:solidFill>
            <a:srgbClr val="00C9A7">
              <a:alpha val="20000"/>
            </a:srgbClr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1143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16459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📁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3291840" y="24231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Version Control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10128" y="29718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5CDD8"/>
                </a:solidFill>
              </a:rPr>
              <a:t>Every infra change lives in Git.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5CDD8"/>
                </a:solidFill>
              </a:rPr>
              <a:t>See who changed what, when, and why.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5CDD8"/>
                </a:solidFill>
              </a:rPr>
              <a:t>Roll back like you roll back code.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35040" y="1005840"/>
            <a:ext cx="2606040" cy="3566160"/>
          </a:xfrm>
          <a:prstGeom prst="rect">
            <a:avLst/>
          </a:prstGeom>
          <a:solidFill>
            <a:srgbClr val="1A1F2E"/>
          </a:solidFill>
          <a:ln w="7620">
            <a:solidFill>
              <a:srgbClr val="00C9A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005840"/>
            <a:ext cx="260604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9632" y="1143000"/>
            <a:ext cx="457200" cy="365760"/>
          </a:xfrm>
          <a:prstGeom prst="rect">
            <a:avLst/>
          </a:prstGeom>
          <a:solidFill>
            <a:srgbClr val="00C9A7">
              <a:alpha val="20000"/>
            </a:srgbClr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1143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35040" y="16459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⚡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126480" y="24231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44768" y="29718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5CDD8"/>
                </a:solidFill>
              </a:rPr>
              <a:t>No human clicking.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5CDD8"/>
                </a:solidFill>
              </a:rPr>
              <a:t>CI/CD pipeline runs terraform apply.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5CDD8"/>
                </a:solidFill>
              </a:rPr>
              <a:t>Infra ships with your app.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Terraform vs The Rest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1463040" cy="402336"/>
          </a:xfrm>
          <a:prstGeom prst="rect">
            <a:avLst/>
          </a:prstGeom>
          <a:solidFill>
            <a:srgbClr val="009E84"/>
          </a:solidFill>
          <a:ln w="762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6012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Tool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91640" y="960120"/>
            <a:ext cx="1645920" cy="402336"/>
          </a:xfrm>
          <a:prstGeom prst="rect">
            <a:avLst/>
          </a:prstGeom>
          <a:solidFill>
            <a:srgbClr val="009E84"/>
          </a:solidFill>
          <a:ln w="762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96012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Type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960120"/>
            <a:ext cx="1463040" cy="402336"/>
          </a:xfrm>
          <a:prstGeom prst="rect">
            <a:avLst/>
          </a:prstGeom>
          <a:solidFill>
            <a:srgbClr val="009E84"/>
          </a:solidFill>
          <a:ln w="762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96012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Language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960120"/>
            <a:ext cx="1463040" cy="402336"/>
          </a:xfrm>
          <a:prstGeom prst="rect">
            <a:avLst/>
          </a:prstGeom>
          <a:solidFill>
            <a:srgbClr val="009E84"/>
          </a:solidFill>
          <a:ln w="762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96012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Cloud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960120"/>
            <a:ext cx="2560320" cy="402336"/>
          </a:xfrm>
          <a:prstGeom prst="rect">
            <a:avLst/>
          </a:prstGeom>
          <a:solidFill>
            <a:srgbClr val="009E84"/>
          </a:solidFill>
          <a:ln w="762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96012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Best For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1362456"/>
            <a:ext cx="1463040" cy="594360"/>
          </a:xfrm>
          <a:prstGeom prst="rect">
            <a:avLst/>
          </a:prstGeom>
          <a:solidFill>
            <a:srgbClr val="071812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362456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</a:rPr>
              <a:t>Terraform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691640" y="1362456"/>
            <a:ext cx="1645920" cy="594360"/>
          </a:xfrm>
          <a:prstGeom prst="rect">
            <a:avLst/>
          </a:prstGeom>
          <a:solidFill>
            <a:srgbClr val="071812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1362456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5CDD8"/>
                </a:solidFill>
              </a:rPr>
              <a:t>Provisioning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337560" y="1362456"/>
            <a:ext cx="1463040" cy="594360"/>
          </a:xfrm>
          <a:prstGeom prst="rect">
            <a:avLst/>
          </a:prstGeom>
          <a:solidFill>
            <a:srgbClr val="071812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1362456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5CDD8"/>
                </a:solidFill>
              </a:rPr>
              <a:t>HCL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00600" y="1362456"/>
            <a:ext cx="1463040" cy="594360"/>
          </a:xfrm>
          <a:prstGeom prst="rect">
            <a:avLst/>
          </a:prstGeom>
          <a:solidFill>
            <a:srgbClr val="071812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362456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5CDD8"/>
                </a:solidFill>
              </a:rPr>
              <a:t>Multi-cloud ✅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63640" y="1362456"/>
            <a:ext cx="2560320" cy="594360"/>
          </a:xfrm>
          <a:prstGeom prst="rect">
            <a:avLst/>
          </a:prstGeom>
          <a:solidFill>
            <a:srgbClr val="071812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136245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5CDD8"/>
                </a:solidFill>
              </a:rPr>
              <a:t>Spin up infra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680960" y="1362456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⭐ Winner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2020824"/>
            <a:ext cx="1463040" cy="594360"/>
          </a:xfrm>
          <a:prstGeom prst="rect">
            <a:avLst/>
          </a:prstGeom>
          <a:solidFill>
            <a:srgbClr val="1A1F2E"/>
          </a:solidFill>
          <a:ln w="5080">
            <a:solidFill>
              <a:srgbClr val="2A30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020824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Ansible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691640" y="2020824"/>
            <a:ext cx="1645920" cy="594360"/>
          </a:xfrm>
          <a:prstGeom prst="rect">
            <a:avLst/>
          </a:prstGeom>
          <a:solidFill>
            <a:srgbClr val="1A1F2E"/>
          </a:solidFill>
          <a:ln w="5080">
            <a:solidFill>
              <a:srgbClr val="2A30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37360" y="2020824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892A4"/>
                </a:solidFill>
              </a:rPr>
              <a:t>Config Mgmt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337560" y="2020824"/>
            <a:ext cx="1463040" cy="594360"/>
          </a:xfrm>
          <a:prstGeom prst="rect">
            <a:avLst/>
          </a:prstGeom>
          <a:solidFill>
            <a:srgbClr val="1A1F2E"/>
          </a:solidFill>
          <a:ln w="5080">
            <a:solidFill>
              <a:srgbClr val="2A30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2020824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892A4"/>
                </a:solidFill>
              </a:rPr>
              <a:t>YAML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800600" y="2020824"/>
            <a:ext cx="1463040" cy="594360"/>
          </a:xfrm>
          <a:prstGeom prst="rect">
            <a:avLst/>
          </a:prstGeom>
          <a:solidFill>
            <a:srgbClr val="1A1F2E"/>
          </a:solidFill>
          <a:ln w="5080">
            <a:solidFill>
              <a:srgbClr val="2A30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020824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892A4"/>
                </a:solidFill>
              </a:rPr>
              <a:t>Multi-cloud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63640" y="2020824"/>
            <a:ext cx="2560320" cy="594360"/>
          </a:xfrm>
          <a:prstGeom prst="rect">
            <a:avLst/>
          </a:prstGeom>
          <a:solidFill>
            <a:srgbClr val="1A1F2E"/>
          </a:solidFill>
          <a:ln w="5080">
            <a:solidFill>
              <a:srgbClr val="2A30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202082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892A4"/>
                </a:solidFill>
              </a:rPr>
              <a:t>Configure servers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28600" y="2679192"/>
            <a:ext cx="1463040" cy="594360"/>
          </a:xfrm>
          <a:prstGeom prst="rect">
            <a:avLst/>
          </a:prstGeom>
          <a:solidFill>
            <a:srgbClr val="1A1F2E"/>
          </a:solidFill>
          <a:ln w="5080">
            <a:solidFill>
              <a:srgbClr val="2A30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267919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Pulumi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691640" y="2679192"/>
            <a:ext cx="1645920" cy="594360"/>
          </a:xfrm>
          <a:prstGeom prst="rect">
            <a:avLst/>
          </a:prstGeom>
          <a:solidFill>
            <a:srgbClr val="1A1F2E"/>
          </a:solidFill>
          <a:ln w="5080">
            <a:solidFill>
              <a:srgbClr val="2A30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37360" y="2679192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892A4"/>
                </a:solidFill>
              </a:rPr>
              <a:t>Provisioning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337560" y="2679192"/>
            <a:ext cx="1463040" cy="594360"/>
          </a:xfrm>
          <a:prstGeom prst="rect">
            <a:avLst/>
          </a:prstGeom>
          <a:solidFill>
            <a:srgbClr val="1A1F2E"/>
          </a:solidFill>
          <a:ln w="5080">
            <a:solidFill>
              <a:srgbClr val="2A30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83280" y="267919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892A4"/>
                </a:solidFill>
              </a:rPr>
              <a:t>Python/TS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800600" y="2679192"/>
            <a:ext cx="1463040" cy="594360"/>
          </a:xfrm>
          <a:prstGeom prst="rect">
            <a:avLst/>
          </a:prstGeom>
          <a:solidFill>
            <a:srgbClr val="1A1F2E"/>
          </a:solidFill>
          <a:ln w="5080">
            <a:solidFill>
              <a:srgbClr val="2A30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267919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892A4"/>
                </a:solidFill>
              </a:rPr>
              <a:t>Multi-cloud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263640" y="2679192"/>
            <a:ext cx="2560320" cy="594360"/>
          </a:xfrm>
          <a:prstGeom prst="rect">
            <a:avLst/>
          </a:prstGeom>
          <a:solidFill>
            <a:srgbClr val="1A1F2E"/>
          </a:solidFill>
          <a:ln w="5080">
            <a:solidFill>
              <a:srgbClr val="2A30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0" y="267919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892A4"/>
                </a:solidFill>
              </a:rPr>
              <a:t>Code-first teams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228600" y="3337560"/>
            <a:ext cx="1463040" cy="594360"/>
          </a:xfrm>
          <a:prstGeom prst="rect">
            <a:avLst/>
          </a:prstGeom>
          <a:solidFill>
            <a:srgbClr val="1A1F2E"/>
          </a:solidFill>
          <a:ln w="5080">
            <a:solidFill>
              <a:srgbClr val="2A30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33375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CloudFormation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1691640" y="3337560"/>
            <a:ext cx="1645920" cy="594360"/>
          </a:xfrm>
          <a:prstGeom prst="rect">
            <a:avLst/>
          </a:prstGeom>
          <a:solidFill>
            <a:srgbClr val="1A1F2E"/>
          </a:solidFill>
          <a:ln w="5080">
            <a:solidFill>
              <a:srgbClr val="2A304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737360" y="33375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892A4"/>
                </a:solidFill>
              </a:rPr>
              <a:t>Provisioning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3337560" y="3337560"/>
            <a:ext cx="1463040" cy="594360"/>
          </a:xfrm>
          <a:prstGeom prst="rect">
            <a:avLst/>
          </a:prstGeom>
          <a:solidFill>
            <a:srgbClr val="1A1F2E"/>
          </a:solidFill>
          <a:ln w="5080">
            <a:solidFill>
              <a:srgbClr val="2A30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83280" y="33375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892A4"/>
                </a:solidFill>
              </a:rPr>
              <a:t>JSON/YAML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4800600" y="3337560"/>
            <a:ext cx="1463040" cy="594360"/>
          </a:xfrm>
          <a:prstGeom prst="rect">
            <a:avLst/>
          </a:prstGeom>
          <a:solidFill>
            <a:srgbClr val="1A1F2E"/>
          </a:solidFill>
          <a:ln w="5080">
            <a:solidFill>
              <a:srgbClr val="2A30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0" y="33375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892A4"/>
                </a:solidFill>
              </a:rPr>
              <a:t>AWS only ❌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263640" y="3337560"/>
            <a:ext cx="2560320" cy="594360"/>
          </a:xfrm>
          <a:prstGeom prst="rect">
            <a:avLst/>
          </a:prstGeom>
          <a:solidFill>
            <a:srgbClr val="1A1F2E"/>
          </a:solidFill>
          <a:ln w="5080">
            <a:solidFill>
              <a:srgbClr val="2A304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09360" y="33375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892A4"/>
                </a:solidFill>
              </a:rPr>
              <a:t>AWS-only shops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457200" y="455371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C9A7"/>
                </a:solidFill>
              </a:rPr>
              <a:t>💡  Terraform HCL is purpose-built, readable in days, and works everywhere.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Terraform Actually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1463040"/>
            <a:ext cx="1325880" cy="1737360"/>
          </a:xfrm>
          <a:prstGeom prst="rect">
            <a:avLst/>
          </a:prstGeom>
          <a:solidFill>
            <a:srgbClr val="1A1F2E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463040"/>
            <a:ext cx="1325880" cy="54864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572768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2176272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Your HCL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85292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main.tf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572768" y="2331720"/>
            <a:ext cx="292608" cy="0"/>
          </a:xfrm>
          <a:prstGeom prst="line">
            <a:avLst/>
          </a:prstGeom>
          <a:noFill/>
          <a:ln w="19050">
            <a:solidFill>
              <a:srgbClr val="8892A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865376" y="1463040"/>
            <a:ext cx="1325880" cy="1737360"/>
          </a:xfrm>
          <a:prstGeom prst="rect">
            <a:avLst/>
          </a:prstGeom>
          <a:solidFill>
            <a:srgbClr val="1A1F2E"/>
          </a:solidFill>
          <a:ln w="12700">
            <a:solidFill>
              <a:srgbClr val="009E8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65376" y="1463040"/>
            <a:ext cx="1325880" cy="54864"/>
          </a:xfrm>
          <a:prstGeom prst="rect">
            <a:avLst/>
          </a:prstGeom>
          <a:solidFill>
            <a:srgbClr val="009E84"/>
          </a:solidFill>
          <a:ln w="12700">
            <a:solidFill>
              <a:srgbClr val="009E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65376" y="1572768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911096" y="2176272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Terraform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11096" y="285292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Engine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9544" y="2331720"/>
            <a:ext cx="292608" cy="0"/>
          </a:xfrm>
          <a:prstGeom prst="line">
            <a:avLst/>
          </a:prstGeom>
          <a:noFill/>
          <a:ln w="19050">
            <a:solidFill>
              <a:srgbClr val="8892A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502152" y="1463040"/>
            <a:ext cx="1325880" cy="1737360"/>
          </a:xfrm>
          <a:prstGeom prst="rect">
            <a:avLst/>
          </a:prstGeom>
          <a:solidFill>
            <a:srgbClr val="1A1F2E"/>
          </a:solidFill>
          <a:ln w="12700">
            <a:solidFill>
              <a:srgbClr val="A259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02152" y="1463040"/>
            <a:ext cx="1325880" cy="54864"/>
          </a:xfrm>
          <a:prstGeom prst="rect">
            <a:avLst/>
          </a:prstGeom>
          <a:solidFill>
            <a:srgbClr val="A259FF"/>
          </a:solidFill>
          <a:ln w="12700">
            <a:solidFill>
              <a:srgbClr val="A259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02152" y="1572768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🔌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547872" y="2176272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Provider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Plugin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47872" y="285292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AWS / GCP / Azure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2331720"/>
            <a:ext cx="292608" cy="0"/>
          </a:xfrm>
          <a:prstGeom prst="line">
            <a:avLst/>
          </a:prstGeom>
          <a:noFill/>
          <a:ln w="19050">
            <a:solidFill>
              <a:srgbClr val="8892A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138928" y="1463040"/>
            <a:ext cx="1325880" cy="1737360"/>
          </a:xfrm>
          <a:prstGeom prst="rect">
            <a:avLst/>
          </a:prstGeom>
          <a:solidFill>
            <a:srgbClr val="1A1F2E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38928" y="1463040"/>
            <a:ext cx="1325880" cy="54864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38928" y="1572768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☁️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184648" y="2176272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Cloud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84648" y="285292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REST API call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83096" y="2331720"/>
            <a:ext cx="292608" cy="0"/>
          </a:xfrm>
          <a:prstGeom prst="line">
            <a:avLst/>
          </a:prstGeom>
          <a:noFill/>
          <a:ln w="19050">
            <a:solidFill>
              <a:srgbClr val="8892A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775704" y="1463040"/>
            <a:ext cx="1325880" cy="1737360"/>
          </a:xfrm>
          <a:prstGeom prst="rect">
            <a:avLst/>
          </a:prstGeom>
          <a:solidFill>
            <a:srgbClr val="1A1F2E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75704" y="1463040"/>
            <a:ext cx="132588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75704" y="1572768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821424" y="2176272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Resource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21424" y="285292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VPC, EC2, GKE…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371600" y="3474720"/>
            <a:ext cx="6400800" cy="777240"/>
          </a:xfrm>
          <a:prstGeom prst="rect">
            <a:avLst/>
          </a:prstGeom>
          <a:solidFill>
            <a:srgbClr val="1A1200"/>
          </a:solidFill>
          <a:ln w="10160">
            <a:solidFill>
              <a:srgbClr val="FFB3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0" y="347472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347"/>
                </a:solidFill>
              </a:rPr>
              <a:t>🗂️  terraform.tfstate  —  Terraform tracks everything it built here. Lose it = lose control.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Concepts You Must Know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51760" cy="3657600"/>
          </a:xfrm>
          <a:prstGeom prst="rect">
            <a:avLst/>
          </a:prstGeom>
          <a:solidFill>
            <a:srgbClr val="1A1F2E"/>
          </a:solidFill>
          <a:ln w="10160">
            <a:solidFill>
              <a:srgbClr val="4A90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2651760" cy="54864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438912" cy="438912"/>
          </a:xfrm>
          <a:prstGeom prst="ellipse">
            <a:avLst/>
          </a:prstGeom>
          <a:solidFill>
            <a:srgbClr val="4A90E2">
              <a:alpha val="25000"/>
            </a:srgbClr>
          </a:solidFill>
          <a:ln w="10160">
            <a:solidFill>
              <a:srgbClr val="4A90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0E2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13385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Providers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CDD8"/>
                </a:solidFill>
              </a:rPr>
              <a:t>Plugins that talk to cloud APIs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CDD8"/>
                </a:solidFill>
              </a:rPr>
              <a:t>AWS, GCP, Azure, Kubernetes...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2377440" cy="1097280"/>
          </a:xfrm>
          <a:prstGeom prst="rect">
            <a:avLst/>
          </a:prstGeom>
          <a:solidFill>
            <a:srgbClr val="0A0A0A"/>
          </a:solidFill>
          <a:ln w="6350">
            <a:solidFill>
              <a:srgbClr val="4A90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6060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9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 "aws"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9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region = "us-east-1"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9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005840"/>
            <a:ext cx="2651760" cy="3657600"/>
          </a:xfrm>
          <a:prstGeom prst="rect">
            <a:avLst/>
          </a:prstGeom>
          <a:solidFill>
            <a:srgbClr val="1A1F2E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005840"/>
            <a:ext cx="265176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1115568"/>
            <a:ext cx="438912" cy="438912"/>
          </a:xfrm>
          <a:prstGeom prst="ellipse">
            <a:avLst/>
          </a:prstGeom>
          <a:solidFill>
            <a:srgbClr val="00C9A7">
              <a:alpha val="25000"/>
            </a:srgbClr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1155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86200" y="113385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Resources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37560" y="16916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CDD8"/>
                </a:solidFill>
              </a:rPr>
              <a:t>The actual things you create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CDD8"/>
                </a:solidFill>
              </a:rPr>
              <a:t>VPC, EC2, S3, GKE cluster...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37560" y="2560320"/>
            <a:ext cx="2377440" cy="1097280"/>
          </a:xfrm>
          <a:prstGeom prst="rect">
            <a:avLst/>
          </a:prstGeom>
          <a:solidFill>
            <a:srgbClr val="0A0A0A"/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01568" y="26060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"aws_s3_bucket" "demo"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bucket = "my-bucket"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80760" y="1005840"/>
            <a:ext cx="2651760" cy="3657600"/>
          </a:xfrm>
          <a:prstGeom prst="rect">
            <a:avLst/>
          </a:prstGeom>
          <a:solidFill>
            <a:srgbClr val="1A1F2E"/>
          </a:solidFill>
          <a:ln w="10160">
            <a:solidFill>
              <a:srgbClr val="FFB3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1005840"/>
            <a:ext cx="2651760" cy="54864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1115568"/>
            <a:ext cx="438912" cy="438912"/>
          </a:xfrm>
          <a:prstGeom prst="ellipse">
            <a:avLst/>
          </a:prstGeom>
          <a:solidFill>
            <a:srgbClr val="FFB347">
              <a:alpha val="25000"/>
            </a:srgbClr>
          </a:solidFill>
          <a:ln w="10160">
            <a:solidFill>
              <a:srgbClr val="FFB3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1155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347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66560" y="113385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217920" y="16916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CDD8"/>
                </a:solidFill>
              </a:rPr>
              <a:t>Terraform's memory of what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CDD8"/>
                </a:solidFill>
              </a:rPr>
              <a:t>it has created in the cloud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2560320"/>
            <a:ext cx="2377440" cy="1097280"/>
          </a:xfrm>
          <a:prstGeom prst="rect">
            <a:avLst/>
          </a:prstGeom>
          <a:solidFill>
            <a:srgbClr val="0A0A0A"/>
          </a:solidFill>
          <a:ln w="6350">
            <a:solidFill>
              <a:srgbClr val="FFB3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81928" y="26060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terraform.tfstate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JSON file tracking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 IDs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Terraform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20240" cy="3200400"/>
          </a:xfrm>
          <a:prstGeom prst="rect">
            <a:avLst/>
          </a:prstGeom>
          <a:solidFill>
            <a:srgbClr val="1A1F2E"/>
          </a:solidFill>
          <a:ln w="10160">
            <a:solidFill>
              <a:srgbClr val="4A90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1920240" cy="54864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📦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1737360" cy="457200"/>
          </a:xfrm>
          <a:prstGeom prst="rect">
            <a:avLst/>
          </a:prstGeom>
          <a:solidFill>
            <a:srgbClr val="0A0A0A"/>
          </a:solidFill>
          <a:ln w="6350">
            <a:solidFill>
              <a:srgbClr val="4A90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9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17373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5CDD8"/>
                </a:solidFill>
              </a:rPr>
              <a:t>Downloads providers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5CDD8"/>
                </a:solidFill>
              </a:rPr>
              <a:t>&amp; sets up backend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286000" y="2615184"/>
            <a:ext cx="210312" cy="0"/>
          </a:xfrm>
          <a:prstGeom prst="line">
            <a:avLst/>
          </a:prstGeom>
          <a:noFill/>
          <a:ln w="19050">
            <a:solidFill>
              <a:srgbClr val="8892A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96312" y="1005840"/>
            <a:ext cx="1920240" cy="3200400"/>
          </a:xfrm>
          <a:prstGeom prst="rect">
            <a:avLst/>
          </a:prstGeom>
          <a:solidFill>
            <a:srgbClr val="1A1F2E"/>
          </a:solidFill>
          <a:ln w="10160">
            <a:solidFill>
              <a:srgbClr val="FFB3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96312" y="1005840"/>
            <a:ext cx="1920240" cy="54864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11430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2587752" y="1920240"/>
            <a:ext cx="1737360" cy="457200"/>
          </a:xfrm>
          <a:prstGeom prst="rect">
            <a:avLst/>
          </a:prstGeom>
          <a:solidFill>
            <a:srgbClr val="0A0A0A"/>
          </a:solidFill>
          <a:ln w="6350">
            <a:solidFill>
              <a:srgbClr val="FFB3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87752" y="19202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87752" y="2514600"/>
            <a:ext cx="17373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5CDD8"/>
                </a:solidFill>
              </a:rPr>
              <a:t>Dry run — shows what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5CDD8"/>
                </a:solidFill>
              </a:rPr>
              <a:t>will be created/changed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416552" y="2615184"/>
            <a:ext cx="210312" cy="0"/>
          </a:xfrm>
          <a:prstGeom prst="line">
            <a:avLst/>
          </a:prstGeom>
          <a:noFill/>
          <a:ln w="19050">
            <a:solidFill>
              <a:srgbClr val="8892A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626864" y="1005840"/>
            <a:ext cx="1920240" cy="3200400"/>
          </a:xfrm>
          <a:prstGeom prst="rect">
            <a:avLst/>
          </a:prstGeom>
          <a:solidFill>
            <a:srgbClr val="1A1F2E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26864" y="1005840"/>
            <a:ext cx="192024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11430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🚀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4718304" y="1920240"/>
            <a:ext cx="1737360" cy="457200"/>
          </a:xfrm>
          <a:prstGeom prst="rect">
            <a:avLst/>
          </a:prstGeom>
          <a:solidFill>
            <a:srgbClr val="0A0A0A"/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18304" y="19202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18304" y="2514600"/>
            <a:ext cx="17373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5CDD8"/>
                </a:solidFill>
              </a:rPr>
              <a:t>Talks to cloud API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5CDD8"/>
                </a:solidFill>
              </a:rPr>
              <a:t>&amp; builds real infra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47104" y="2615184"/>
            <a:ext cx="210312" cy="0"/>
          </a:xfrm>
          <a:prstGeom prst="line">
            <a:avLst/>
          </a:prstGeom>
          <a:noFill/>
          <a:ln w="19050">
            <a:solidFill>
              <a:srgbClr val="8892A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757416" y="1005840"/>
            <a:ext cx="1920240" cy="3200400"/>
          </a:xfrm>
          <a:prstGeom prst="rect">
            <a:avLst/>
          </a:prstGeom>
          <a:solidFill>
            <a:srgbClr val="1A1F2E"/>
          </a:solidFill>
          <a:ln w="10160">
            <a:solidFill>
              <a:srgbClr val="FF5C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57416" y="1005840"/>
            <a:ext cx="1920240" cy="54864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7416" y="11430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🧹</a:t>
            </a:r>
            <a:endParaRPr lang="en-US" sz="3200" dirty="0"/>
          </a:p>
        </p:txBody>
      </p:sp>
      <p:sp>
        <p:nvSpPr>
          <p:cNvPr id="28" name="Shape 26"/>
          <p:cNvSpPr/>
          <p:nvPr/>
        </p:nvSpPr>
        <p:spPr>
          <a:xfrm>
            <a:off x="6848856" y="1920240"/>
            <a:ext cx="1737360" cy="457200"/>
          </a:xfrm>
          <a:prstGeom prst="rect">
            <a:avLst/>
          </a:prstGeom>
          <a:solidFill>
            <a:srgbClr val="0A0A0A"/>
          </a:solidFill>
          <a:ln w="6350">
            <a:solidFill>
              <a:srgbClr val="FF5C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48856" y="19202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destroy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48856" y="2514600"/>
            <a:ext cx="17373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5CDD8"/>
                </a:solidFill>
              </a:rPr>
              <a:t>Tears everything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5CDD8"/>
                </a:solidFill>
              </a:rPr>
              <a:t>down cleanly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65760" y="4389120"/>
            <a:ext cx="8412480" cy="530352"/>
          </a:xfrm>
          <a:prstGeom prst="rect">
            <a:avLst/>
          </a:prstGeom>
          <a:solidFill>
            <a:srgbClr val="071812"/>
          </a:solidFill>
          <a:ln w="7620">
            <a:solidFill>
              <a:srgbClr val="00C9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38912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9A7"/>
                </a:solidFill>
              </a:rPr>
              <a:t>💡  Pro tip: Always run plan before apply — it's your safety net. Review the diff like a code review.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 🎬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C9A7"/>
                </a:solidFill>
              </a:rPr>
              <a:t>Your First Terraform Resource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38912" cy="438912"/>
          </a:xfrm>
          <a:prstGeom prst="ellipse">
            <a:avLst/>
          </a:prstGeom>
          <a:solidFill>
            <a:srgbClr val="00C9A7">
              <a:alpha val="20000"/>
            </a:srgbClr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96112" y="1371600"/>
            <a:ext cx="3566160" cy="594360"/>
          </a:xfrm>
          <a:prstGeom prst="rect">
            <a:avLst/>
          </a:prstGeom>
          <a:solidFill>
            <a:srgbClr val="1A1F2E"/>
          </a:solidFill>
          <a:ln w="6350">
            <a:solidFill>
              <a:srgbClr val="2A3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371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main.tf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16642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terraform block + provider + aws_s3_bucket resource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438912" cy="438912"/>
          </a:xfrm>
          <a:prstGeom prst="ellipse">
            <a:avLst/>
          </a:prstGeom>
          <a:solidFill>
            <a:srgbClr val="00C9A7">
              <a:alpha val="20000"/>
            </a:srgbClr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500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6112" y="2304288"/>
            <a:ext cx="3566160" cy="594360"/>
          </a:xfrm>
          <a:prstGeom prst="rect">
            <a:avLst/>
          </a:prstGeom>
          <a:solidFill>
            <a:srgbClr val="1A1F2E"/>
          </a:solidFill>
          <a:ln w="6350">
            <a:solidFill>
              <a:srgbClr val="2A3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3042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05840" y="25968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Watch it download the AWS provider plugin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282696"/>
            <a:ext cx="438912" cy="438912"/>
          </a:xfrm>
          <a:prstGeom prst="ellipse">
            <a:avLst/>
          </a:prstGeom>
          <a:solidFill>
            <a:srgbClr val="00C9A7">
              <a:alpha val="20000"/>
            </a:srgbClr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2826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6112" y="3236976"/>
            <a:ext cx="3566160" cy="594360"/>
          </a:xfrm>
          <a:prstGeom prst="rect">
            <a:avLst/>
          </a:prstGeom>
          <a:solidFill>
            <a:srgbClr val="1A1F2E"/>
          </a:solidFill>
          <a:ln w="6350">
            <a:solidFill>
              <a:srgbClr val="2A3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2369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05840" y="35295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Read the + lines — this is your infra diff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1417320"/>
            <a:ext cx="438912" cy="438912"/>
          </a:xfrm>
          <a:prstGeom prst="ellipse">
            <a:avLst/>
          </a:prstGeom>
          <a:solidFill>
            <a:srgbClr val="00C9A7">
              <a:alpha val="20000"/>
            </a:srgbClr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4173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285232" y="1371600"/>
            <a:ext cx="3566160" cy="594360"/>
          </a:xfrm>
          <a:prstGeom prst="rect">
            <a:avLst/>
          </a:prstGeom>
          <a:solidFill>
            <a:srgbClr val="1A1F2E"/>
          </a:solidFill>
          <a:ln w="6350">
            <a:solidFill>
              <a:srgbClr val="2A30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0" y="1371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394960" y="16642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Split screen: terminal left, AWS console right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2350008"/>
            <a:ext cx="438912" cy="438912"/>
          </a:xfrm>
          <a:prstGeom prst="ellipse">
            <a:avLst/>
          </a:prstGeom>
          <a:solidFill>
            <a:srgbClr val="00C9A7">
              <a:alpha val="20000"/>
            </a:srgbClr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3500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285232" y="2304288"/>
            <a:ext cx="3566160" cy="594360"/>
          </a:xfrm>
          <a:prstGeom prst="rect">
            <a:avLst/>
          </a:prstGeom>
          <a:solidFill>
            <a:srgbClr val="1A1F2E"/>
          </a:solidFill>
          <a:ln w="6350">
            <a:solidFill>
              <a:srgbClr val="2A30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0" y="23042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terraform.tfstate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394960" y="25968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Open it — see your bucket ID tracked inside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282696"/>
            <a:ext cx="438912" cy="438912"/>
          </a:xfrm>
          <a:prstGeom prst="ellipse">
            <a:avLst/>
          </a:prstGeom>
          <a:solidFill>
            <a:srgbClr val="00C9A7">
              <a:alpha val="20000"/>
            </a:srgbClr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2826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285232" y="3236976"/>
            <a:ext cx="3566160" cy="594360"/>
          </a:xfrm>
          <a:prstGeom prst="rect">
            <a:avLst/>
          </a:prstGeom>
          <a:solidFill>
            <a:srgbClr val="1A1F2E"/>
          </a:solidFill>
          <a:ln w="6350">
            <a:solidFill>
              <a:srgbClr val="2A30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0" y="32369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destroy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394960" y="35295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Switch to AWS console, refresh — it's gone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Coming Next 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60520" cy="713232"/>
          </a:xfrm>
          <a:prstGeom prst="rect">
            <a:avLst/>
          </a:prstGeom>
          <a:solidFill>
            <a:srgbClr val="1A1F2E"/>
          </a:solidFill>
          <a:ln w="762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73152" cy="7132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05840"/>
            <a:ext cx="685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 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1005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init, plan, apply deep dive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Phase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883664"/>
            <a:ext cx="4160520" cy="713232"/>
          </a:xfrm>
          <a:prstGeom prst="rect">
            <a:avLst/>
          </a:prstGeom>
          <a:solidFill>
            <a:srgbClr val="1A1F2E"/>
          </a:solidFill>
          <a:ln w="7620">
            <a:solidFill>
              <a:srgbClr val="00C9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83664"/>
            <a:ext cx="73152" cy="7132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883664"/>
            <a:ext cx="685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 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34440" y="188366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Providers, resources &amp; state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34440" y="22951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Phase 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761488"/>
            <a:ext cx="4160520" cy="713232"/>
          </a:xfrm>
          <a:prstGeom prst="rect">
            <a:avLst/>
          </a:prstGeom>
          <a:solidFill>
            <a:srgbClr val="1A1F2E"/>
          </a:solidFill>
          <a:ln w="7620">
            <a:solidFill>
              <a:srgbClr val="4A90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761488"/>
            <a:ext cx="73152" cy="713232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761488"/>
            <a:ext cx="685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 04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27614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Variables &amp; outputs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34440" y="3172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Phase 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639312"/>
            <a:ext cx="4160520" cy="713232"/>
          </a:xfrm>
          <a:prstGeom prst="rect">
            <a:avLst/>
          </a:prstGeom>
          <a:solidFill>
            <a:srgbClr val="1A1F2E"/>
          </a:solidFill>
          <a:ln w="7620">
            <a:solidFill>
              <a:srgbClr val="4A90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639312"/>
            <a:ext cx="73152" cy="713232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639312"/>
            <a:ext cx="685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 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34440" y="363931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Locals, expressions &amp; functions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234440" y="40507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Phase 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92040" y="1005840"/>
            <a:ext cx="4160520" cy="713232"/>
          </a:xfrm>
          <a:prstGeom prst="rect">
            <a:avLst/>
          </a:prstGeom>
          <a:solidFill>
            <a:srgbClr val="1A1F2E"/>
          </a:solidFill>
          <a:ln w="7620">
            <a:solidFill>
              <a:srgbClr val="A259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92040" y="1005840"/>
            <a:ext cx="73152" cy="713232"/>
          </a:xfrm>
          <a:prstGeom prst="rect">
            <a:avLst/>
          </a:prstGeom>
          <a:solidFill>
            <a:srgbClr val="A259FF"/>
          </a:solidFill>
          <a:ln w="12700">
            <a:solidFill>
              <a:srgbClr val="A259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56632" y="1005840"/>
            <a:ext cx="685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25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 08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60720" y="1005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Writing your first module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760720" y="1417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Phase 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92040" y="1883664"/>
            <a:ext cx="4160520" cy="713232"/>
          </a:xfrm>
          <a:prstGeom prst="rect">
            <a:avLst/>
          </a:prstGeom>
          <a:solidFill>
            <a:srgbClr val="1A1F2E"/>
          </a:solidFill>
          <a:ln w="7620">
            <a:solidFill>
              <a:srgbClr val="FFB34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1883664"/>
            <a:ext cx="73152" cy="713232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56632" y="1883664"/>
            <a:ext cx="685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 11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60720" y="188366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Full AWS VPC project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760720" y="22951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Phase 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92040" y="2761488"/>
            <a:ext cx="4160520" cy="713232"/>
          </a:xfrm>
          <a:prstGeom prst="rect">
            <a:avLst/>
          </a:prstGeom>
          <a:solidFill>
            <a:srgbClr val="1A1F2E"/>
          </a:solidFill>
          <a:ln w="7620">
            <a:solidFill>
              <a:srgbClr val="FF5C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2761488"/>
            <a:ext cx="73152" cy="713232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56632" y="2761488"/>
            <a:ext cx="685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 15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760720" y="27614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Terraform in Azure DevOps CI/CD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760720" y="3172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Phase 5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117"/>
                </a:solidFill>
              </a:rPr>
              <a:t>🔔  Subscribe — new episode drops every week  |  GitHub link in the description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Terraform Ep1 - Screen Slides</dc:title>
  <dc:subject>PptxGenJS Presentation</dc:subject>
  <dc:creator>PptxGenJS</dc:creator>
  <cp:lastModifiedBy>PptxGenJS</cp:lastModifiedBy>
  <cp:revision>1</cp:revision>
  <dcterms:created xsi:type="dcterms:W3CDTF">2026-04-24T06:03:47Z</dcterms:created>
  <dcterms:modified xsi:type="dcterms:W3CDTF">2026-04-24T06:03:47Z</dcterms:modified>
</cp:coreProperties>
</file>