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2743200" cy="2743200"/>
          </a:xfrm>
          <a:prstGeom prst="ellipse">
            <a:avLst/>
          </a:prstGeom>
          <a:solidFill>
            <a:srgbClr val="4A90E2">
              <a:alpha val="12000"/>
            </a:srgbClr>
          </a:solidFill>
          <a:ln w="12700">
            <a:solidFill>
              <a:srgbClr val="4A90E2">
                <a:alpha val="1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02920" y="2761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once. Use everywhere. Change in one place.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401568"/>
            <a:ext cx="2148840" cy="365760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Patterns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3401568"/>
            <a:ext cx="2148840" cy="365760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Advanced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3401568"/>
            <a:ext cx="2148840" cy="365760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Series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526280"/>
            <a:ext cx="18288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371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200" b="1" dirty="0">
                <a:solidFill>
                  <a:srgbClr val="00C9A7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8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LOCALS?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"Named expressions — defined once, reused everywhere, never exposed outside."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62438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91440" cy="1417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variable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set from outside.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tfvars, no CLI, no env.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6916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62438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691640"/>
            <a:ext cx="91440" cy="1417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3969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exposed to callers.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internal to the module.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62438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691640"/>
            <a:ext cx="91440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internal shortcut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13969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your config only.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merges all locals blocks.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6393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&lt;name&gt; = &lt;expression&gt;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58444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6393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local.&lt;name&gt;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38912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1A2E4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0740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Multiple locals { } blocks allowed in the same file or across files — Terraform merges them all at plan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 vs  VARIABLES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788920" cy="438912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 w="19050">
            <a:solidFill>
              <a:srgbClr val="E8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896112"/>
            <a:ext cx="2788920" cy="438912"/>
          </a:xfrm>
          <a:prstGeom prst="roundRect">
            <a:avLst>
              <a:gd name="adj" fmla="val 16667"/>
            </a:avLst>
          </a:prstGeom>
          <a:solidFill>
            <a:srgbClr val="0D2040"/>
          </a:solidFill>
          <a:ln w="1905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89611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896112"/>
            <a:ext cx="2788920" cy="438912"/>
          </a:xfrm>
          <a:prstGeom prst="roundRect">
            <a:avLst>
              <a:gd name="adj" fmla="val 16667"/>
            </a:avLst>
          </a:prstGeom>
          <a:solidFill>
            <a:srgbClr val="0A2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89611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426464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26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from outside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26464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26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tfvars, CLI, env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426464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26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2788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38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inside config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1938528"/>
            <a:ext cx="2788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938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938528"/>
            <a:ext cx="2788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38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expressions ok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450592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450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expressions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450592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450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2450592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450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962656"/>
            <a:ext cx="2788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962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 caller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2962656"/>
            <a:ext cx="2788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62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2962656"/>
            <a:ext cx="2788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962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474720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46120" y="3474720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3474720"/>
            <a:ext cx="2788920" cy="457200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computed logic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4114800"/>
            <a:ext cx="8503920" cy="822960"/>
          </a:xfrm>
          <a:prstGeom prst="roundRect">
            <a:avLst>
              <a:gd name="adj" fmla="val 13333"/>
            </a:avLst>
          </a:prstGeom>
          <a:solidFill>
            <a:srgbClr val="16243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44256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comes from OUTSIDE  </a:t>
            </a:r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variable</a:t>
            </a:r>
            <a:pPr indent="0" marL="0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Value computed INSIDE  </a:t>
            </a:r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local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WITH EXPRESSIONS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valid Terraform expression works inside a local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160520" cy="1581912"/>
          </a:xfrm>
          <a:prstGeom prst="roundRect">
            <a:avLst>
              <a:gd name="adj" fmla="val 6936"/>
            </a:avLst>
          </a:prstGeom>
          <a:solidFill>
            <a:srgbClr val="162438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91440" cy="1581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898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Interpolation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00784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7556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"${var.app}-${var.env}-${var.region}"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names dynamically — no hardcoding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4160520" cy="1581912"/>
          </a:xfrm>
          <a:prstGeom prst="roundRect">
            <a:avLst>
              <a:gd name="adj" fmla="val 6936"/>
            </a:avLst>
          </a:prstGeom>
          <a:solidFill>
            <a:srgbClr val="162438"/>
          </a:solidFill>
          <a:ln w="1905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98448"/>
            <a:ext cx="91440" cy="158191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3898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898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1389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700784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556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is_prod       = var.env == "production"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local.is_prod ? "t3.large" : "t3.micro"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expression drives config decisions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4160520" cy="1581912"/>
          </a:xfrm>
          <a:prstGeom prst="roundRect">
            <a:avLst>
              <a:gd name="adj" fmla="val 6936"/>
            </a:avLst>
          </a:prstGeom>
          <a:solidFill>
            <a:srgbClr val="16243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27248"/>
            <a:ext cx="91440" cy="1581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2186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186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529584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5844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name_upper = upper(var.app_name)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name_slug  = replace(lower(var.app_name), " ", "-")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3708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values before using them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127248"/>
            <a:ext cx="4160520" cy="1581912"/>
          </a:xfrm>
          <a:prstGeom prst="roundRect">
            <a:avLst>
              <a:gd name="adj" fmla="val 6936"/>
            </a:avLst>
          </a:prstGeom>
          <a:solidFill>
            <a:srgbClr val="162438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27248"/>
            <a:ext cx="91440" cy="1581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2186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186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3218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3529584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5844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total_capacity = var.min_nodes + var.max_nodes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3708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derived numbers once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PATTERN  —  COMMON TAGS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60520" cy="2724912"/>
          </a:xfrm>
          <a:prstGeom prst="roundRect">
            <a:avLst>
              <a:gd name="adj" fmla="val 4027"/>
            </a:avLst>
          </a:prstGeom>
          <a:solidFill>
            <a:srgbClr val="162438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50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— copy-paste on every resource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3931920" cy="2267712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16736"/>
            <a:ext cx="3749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"production"  # paste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Team        = "platform"    # paste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= "Terraform"   # paste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"app"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"production"  # paste again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Team        = "platform"    # paste again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= "Terraform"   # paste again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4805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60520" cy="2724912"/>
          </a:xfrm>
          <a:prstGeom prst="roundRect">
            <a:avLst>
              <a:gd name="adj" fmla="val 4027"/>
            </a:avLst>
          </a:prstGeom>
          <a:solidFill>
            <a:srgbClr val="162438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950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defined once, used everywhere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64608" y="1261872"/>
            <a:ext cx="3931920" cy="2267712"/>
          </a:xfrm>
          <a:prstGeom prst="roundRect">
            <a:avLst>
              <a:gd name="adj" fmla="val 3226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4336" y="1316736"/>
            <a:ext cx="37490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=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var.env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Team        = "platform"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= "Terraform"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local.common_tags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"app"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local.common_tags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730752"/>
            <a:ext cx="8641080" cy="1170432"/>
          </a:xfrm>
          <a:prstGeom prst="roundRect">
            <a:avLst>
              <a:gd name="adj" fmla="val 9375"/>
            </a:avLst>
          </a:prstGeom>
          <a:solidFill>
            <a:srgbClr val="16243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add a new tag?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5993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approach:  </a:t>
            </a:r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 in every resource block — miss one and drift happens.
</a:t>
            </a:r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approach:  </a:t>
            </a:r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local.common_tags once — every resource picks it up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 —  EXTEND COMMON TAGS PER RESOURCE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resource needs common tags PLUS its own specific ones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25296"/>
            <a:ext cx="2834640" cy="1389888"/>
          </a:xfrm>
          <a:prstGeom prst="roundRect">
            <a:avLst>
              <a:gd name="adj" fmla="val 7895"/>
            </a:avLst>
          </a:prstGeom>
          <a:solidFill>
            <a:srgbClr val="162438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Define common tags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81912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63677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= {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       = var.env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= "Terraform"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46120" y="2331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225296"/>
            <a:ext cx="4343400" cy="3520440"/>
          </a:xfrm>
          <a:prstGeom prst="roundRect">
            <a:avLst>
              <a:gd name="adj" fmla="val 3117"/>
            </a:avLst>
          </a:prstGeom>
          <a:solidFill>
            <a:srgbClr val="162438"/>
          </a:solidFill>
          <a:ln w="1905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Use merge() in each resource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581912"/>
            <a:ext cx="4133088" cy="3063240"/>
          </a:xfrm>
          <a:prstGeom prst="roundRect">
            <a:avLst>
              <a:gd name="adj" fmla="val 2388"/>
            </a:avLst>
          </a:prstGeom>
          <a:solidFill>
            <a:srgbClr val="0A1628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36776"/>
            <a:ext cx="39502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merge(local.common_tags,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"web-server"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 = "frontend"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"db"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merge(local.common_tags,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"db-server"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 = "database"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6243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798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web-server: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90672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145536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merged output: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      = "production"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ManagedBy = "Terraform"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= "web-server"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    = "frontend"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BEFORE LOOPS  —  for_each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 needs a MAP or SET — not a raw list. Locals prepare the data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43584"/>
            <a:ext cx="2788920" cy="3621024"/>
          </a:xfrm>
          <a:prstGeom prst="roundRect">
            <a:avLst>
              <a:gd name="adj" fmla="val 3934"/>
            </a:avLst>
          </a:prstGeom>
          <a:solidFill>
            <a:srgbClr val="162438"/>
          </a:solidFill>
          <a:ln w="2540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list)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2523744" cy="2980944"/>
          </a:xfrm>
          <a:prstGeom prst="roundRect">
            <a:avLst>
              <a:gd name="adj" fmla="val 2899"/>
            </a:avLst>
          </a:prstGeom>
          <a:solidFill>
            <a:srgbClr val="0A1628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810512"/>
            <a:ext cx="234086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"users"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[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{name="alice",active=true},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{name="bob",  active=false},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{name="carol",active=true},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90672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8C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18688" y="1243584"/>
            <a:ext cx="2788920" cy="3621024"/>
          </a:xfrm>
          <a:prstGeom prst="roundRect">
            <a:avLst>
              <a:gd name="adj" fmla="val 3934"/>
            </a:avLst>
          </a:prstGeom>
          <a:solidFill>
            <a:srgbClr val="162438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298448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13048" y="1307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filter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convert to map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1755648"/>
            <a:ext cx="2523744" cy="2980944"/>
          </a:xfrm>
          <a:prstGeom prst="roundRect">
            <a:avLst>
              <a:gd name="adj" fmla="val 2899"/>
            </a:avLst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1810512"/>
            <a:ext cx="234086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 = [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 in var.users: u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u.active == true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active_map =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 in local.active: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u.name =&gt; u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3504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8C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63056" y="1243584"/>
            <a:ext cx="2788920" cy="3621024"/>
          </a:xfrm>
          <a:prstGeom prst="roundRect">
            <a:avLst>
              <a:gd name="adj" fmla="val 3934"/>
            </a:avLst>
          </a:prstGeom>
          <a:solidFill>
            <a:srgbClr val="162438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0216" y="1298448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57416" y="1307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clean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for_each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0216" y="1755648"/>
            <a:ext cx="2523744" cy="2980944"/>
          </a:xfrm>
          <a:prstGeom prst="roundRect">
            <a:avLst>
              <a:gd name="adj" fmla="val 2899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1810512"/>
            <a:ext cx="234086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"aws_iam_user" "this"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local.active_map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each.key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 = each.value.role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alt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956048"/>
            <a:ext cx="8641080" cy="0"/>
          </a:xfrm>
          <a:prstGeom prst="roundRect">
            <a:avLst/>
          </a:prstGeom>
          <a:noFill/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EXPRESSIONS IN LOCALS  —  TRANSFORM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var.instance_names = ["web", "api", "worker"]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1115568"/>
          </a:xfrm>
          <a:prstGeom prst="roundRect">
            <a:avLst>
              <a:gd name="adj" fmla="val 9836"/>
            </a:avLst>
          </a:prstGeom>
          <a:solidFill>
            <a:srgbClr val="162438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91440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16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→ 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Required by for_each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{ web="t3.micro", api="t3.micro", worker="t3.micro" }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1316736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13716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instance_map = {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 in var.instance_names :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=&gt; "t3.micro"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496312"/>
            <a:ext cx="8503920" cy="1115568"/>
          </a:xfrm>
          <a:prstGeom prst="roundRect">
            <a:avLst>
              <a:gd name="adj" fmla="val 9836"/>
            </a:avLst>
          </a:prstGeom>
          <a:solidFill>
            <a:srgbClr val="162438"/>
          </a:solidFill>
          <a:ln w="1905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96312"/>
            <a:ext cx="91440" cy="111556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→ UPPERCASE 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8437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Useful for naming conventions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1181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["WEB", "API", "WORKER"]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17520" y="2551176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0A1628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7248" y="26060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names_upper = [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 in var.instance_names :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upper(name)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8503920" cy="1115568"/>
          </a:xfrm>
          <a:prstGeom prst="roundRect">
            <a:avLst>
              <a:gd name="adj" fmla="val 9836"/>
            </a:avLst>
          </a:prstGeom>
          <a:solidFill>
            <a:srgbClr val="16243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30752"/>
            <a:ext cx="91440" cy="11155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85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→ COMPUTED MAP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0782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derived names in bulk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3525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{ web="prod-web-bucket", api="prod-api-bucket" }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3785616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38404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bucket_names = {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 in var.instance_names :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=&gt; "${var.env}-${name}-bucket"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alt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REFERENCING LOCALS  +  CONDITIONALS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3063240"/>
          </a:xfrm>
          <a:prstGeom prst="roundRect">
            <a:avLst>
              <a:gd name="adj" fmla="val 3582"/>
            </a:avLst>
          </a:prstGeom>
          <a:solidFill>
            <a:srgbClr val="162438"/>
          </a:solidFill>
          <a:ln w="1905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— build in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77640" cy="2578608"/>
          </a:xfrm>
          <a:prstGeom prst="roundRect">
            <a:avLst>
              <a:gd name="adj" fmla="val 2837"/>
            </a:avLst>
          </a:prstGeom>
          <a:solidFill>
            <a:srgbClr val="0A1628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43584"/>
            <a:ext cx="37947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    = var.environment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    = var.app_name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uses env + app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prefix = "${local.env}-${local.app}"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uses prefix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    = "${local.prefix}-data"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log_bucket = "${local.prefix}-logs"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822960"/>
            <a:ext cx="4206240" cy="3063240"/>
          </a:xfrm>
          <a:prstGeom prst="roundRect">
            <a:avLst>
              <a:gd name="adj" fmla="val 3582"/>
            </a:avLst>
          </a:prstGeom>
          <a:solidFill>
            <a:srgbClr val="162438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— one var drives 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005072" cy="2578608"/>
          </a:xfrm>
          <a:prstGeom prst="roundRect">
            <a:avLst>
              <a:gd name="adj" fmla="val 2837"/>
            </a:avLst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243584"/>
            <a:ext cx="382219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is_prod = var.env == "production"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local.is_prod ? "t3.large" : "t3.micro"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deletion_protection =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local.is_prod ? true : false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replica_count =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local.is_prod ? 3 : 1</a:t>
            </a:r>
            <a:endParaRPr lang="en-US" sz="950" dirty="0"/>
          </a:p>
          <a:p>
            <a:pPr indent="0" marL="0">
              <a:buNone/>
            </a:pPr>
            <a:r>
              <a:rPr lang="en-US" alt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4023360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1A0A0A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— Circular Reference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70832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0A1628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44256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local.a refs local.b refs local.a  → ERROR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4023360"/>
            <a:ext cx="4206240" cy="896112"/>
          </a:xfrm>
          <a:prstGeom prst="roundRect">
            <a:avLst>
              <a:gd name="adj" fmla="val 12245"/>
            </a:avLst>
          </a:prstGeom>
          <a:solidFill>
            <a:srgbClr val="162438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toset() — prepare list for for_each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4370832"/>
            <a:ext cx="4005072" cy="475488"/>
          </a:xfrm>
          <a:prstGeom prst="roundRect">
            <a:avLst>
              <a:gd name="adj" fmla="val 15385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442569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 az_set = toset(var.availability_zones) 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LOCALS CANNOT 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 — avoid confusing errors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162438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91440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371600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71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335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accept external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6093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variables. You cannot pass a value in from tfvars, CLI, or environment variables.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162438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11680"/>
            <a:ext cx="91440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121408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214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overridden at runtime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3591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are fixed at plan-time evaluation. No dynamic overriding.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6148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162438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61488"/>
            <a:ext cx="91440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871216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7121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reference resources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108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can only reference variables, data sources, and other locals — NOT resource attributes.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511296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162438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11296"/>
            <a:ext cx="91440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621024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62102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circular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8587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local.a → local.b → local.a causes an error. Terraform detects this and fails immediately.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261104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162438"/>
          </a:solidFill>
          <a:ln w="19050">
            <a:solidFill>
              <a:srgbClr val="8FA8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261104"/>
            <a:ext cx="91440" cy="658368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4370832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3708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4334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visible in terraform output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6085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are internal only. They never appear in outputs, state, or any external interface.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  &amp;  PATTERNS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41832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41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local. (singular) to reference — never locals.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63624"/>
            <a:ext cx="347472" cy="34747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locals { } blocks are fine — Terraform merges them.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85416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5798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are evaluated at plan time — not at runtime.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07208"/>
            <a:ext cx="347472" cy="34747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77977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circular dependencies — Terraform errors immediately.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29000"/>
            <a:ext cx="347472" cy="347472"/>
          </a:xfrm>
          <a:prstGeom prst="ellipse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4015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are module-scoped — not visible outside the module.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216152"/>
            <a:ext cx="246888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96328" y="1216152"/>
            <a:ext cx="173736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161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common_tags local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42048" y="121615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tags once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709928"/>
            <a:ext cx="246888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1709928"/>
            <a:ext cx="173736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7099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merge(local.tags, {...})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42048" y="170992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per resource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203704"/>
            <a:ext cx="246888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96328" y="2203704"/>
            <a:ext cx="173736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2037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u: u if u.active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42048" y="220370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before loop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697480"/>
            <a:ext cx="246888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6328" y="2697480"/>
            <a:ext cx="173736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97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u: u.name =&gt; u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42048" y="269748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→ map for_each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191256"/>
            <a:ext cx="246888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96328" y="3191256"/>
            <a:ext cx="173736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19125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toset(var.list)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42048" y="319125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→ set for_each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685032"/>
            <a:ext cx="246888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96328" y="3685032"/>
            <a:ext cx="173736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6850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is_prod ? x : 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42048" y="36850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config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4178808"/>
            <a:ext cx="246888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96328" y="4178808"/>
            <a:ext cx="1737360" cy="438912"/>
          </a:xfrm>
          <a:prstGeom prst="rect">
            <a:avLst/>
          </a:prstGeom>
          <a:solidFill>
            <a:srgbClr val="162438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1788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ref other locals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242048" y="417880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values in steps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681728"/>
            <a:ext cx="8641080" cy="749808"/>
          </a:xfrm>
          <a:prstGeom prst="roundRect">
            <a:avLst>
              <a:gd name="adj" fmla="val 14634"/>
            </a:avLst>
          </a:prstGeom>
          <a:solidFill>
            <a:srgbClr val="162438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57200" y="4718304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"Locals simplify your config — name complex expressions once, reuse them everywhere, especially before loops."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2026-05-30T19:03:02Z</dcterms:created>
  <dcterms:modified xsi:type="dcterms:W3CDTF">2026-05-30T19:03:02Z</dcterms:modified>
</cp:coreProperties>
</file>