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font" Target="fonts/ArialBlac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66be39d62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66be39d62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66be39d62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66be39d62_2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e66be39d62_2_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e66be39d62_2_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6be39d62_2_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e66be39d62_2_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66be39d62_2_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66be39d62_2_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66be39d62_2_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66be39d62_2_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66be39d62_2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66be39d62_2_1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66be39d62_2_1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66be39d62_2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e66be39d62_2_1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66be39d62_2_1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66be39d62_2_1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e66be39d62_2_1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66be39d62_2_1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66be39d62_2_1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e66be39d62_2_1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66be39d62_2_1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66be39d62_2_2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e66be39d62_2_2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66be39d62_2_2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Providers, Resources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5400"/>
              <a:buFont typeface="Arial Black"/>
              <a:buNone/>
            </a:pPr>
            <a:r>
              <a:rPr b="1" i="0" lang="en" sz="5400" u="none" cap="none" strike="noStrike">
                <a:solidFill>
                  <a:srgbClr val="00C9A7"/>
                </a:solidFill>
                <a:latin typeface="Arial Black"/>
                <a:ea typeface="Arial Black"/>
                <a:cs typeface="Arial Black"/>
                <a:sym typeface="Arial Black"/>
              </a:rPr>
              <a:t>&amp; State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The 3 things Terraform is built 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291840" y="3246120"/>
            <a:ext cx="2560320" cy="457200"/>
          </a:xfrm>
          <a:prstGeom prst="roundRect">
            <a:avLst>
              <a:gd fmla="val 20000" name="adj"/>
            </a:avLst>
          </a:prstGeom>
          <a:solidFill>
            <a:srgbClr val="00C9A7">
              <a:alpha val="14901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291840" y="3246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Episode 03  •  Terraform Series  •  PythonDevOps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097280" y="4160520"/>
            <a:ext cx="2103120" cy="640080"/>
          </a:xfrm>
          <a:prstGeom prst="rect">
            <a:avLst/>
          </a:prstGeom>
          <a:solidFill>
            <a:srgbClr val="1A1F2E"/>
          </a:solidFill>
          <a:ln cap="flat" cmpd="sng" w="1015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1097280" y="4160520"/>
            <a:ext cx="2103120" cy="54864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1097280" y="420624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🔌  Providers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566160" y="4160520"/>
            <a:ext cx="2103120" cy="640080"/>
          </a:xfrm>
          <a:prstGeom prst="rect">
            <a:avLst/>
          </a:prstGeom>
          <a:solidFill>
            <a:srgbClr val="1A1F2E"/>
          </a:solidFill>
          <a:ln cap="flat" cmpd="sng" w="101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3566160" y="4160520"/>
            <a:ext cx="210312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566160" y="420624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Resources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6035040" y="4160520"/>
            <a:ext cx="2103120" cy="640080"/>
          </a:xfrm>
          <a:prstGeom prst="rect">
            <a:avLst/>
          </a:prstGeom>
          <a:solidFill>
            <a:srgbClr val="1A1F2E"/>
          </a:solidFill>
          <a:ln cap="flat" cmpd="sng" w="1015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6035040" y="4160520"/>
            <a:ext cx="2103120" cy="54864"/>
          </a:xfrm>
          <a:prstGeom prst="rect">
            <a:avLst/>
          </a:prstGeom>
          <a:solidFill>
            <a:srgbClr val="FFB347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035040" y="420624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🗂️ 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🔌  What are Providers?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0A1A10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48640" y="960120"/>
            <a:ext cx="8046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💡  Think of providers like drivers. Just like your laptop needs a driver to talk to a printer — Terraform needs a provider to talk to AWS, GCP, or Azure.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65760" y="190195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Providers are plugins that wrap cloud APIs.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You declare one → Terraform downloads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during init → it handles all the API calls.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572000" y="1874520"/>
            <a:ext cx="1965960" cy="80467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572000" y="1874520"/>
            <a:ext cx="54864" cy="804672"/>
          </a:xfrm>
          <a:prstGeom prst="rect">
            <a:avLst/>
          </a:prstGeom>
          <a:solidFill>
            <a:srgbClr val="FFB347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709160" y="187452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 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709160" y="229514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1B+ downloads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720840" y="1874520"/>
            <a:ext cx="1965960" cy="80467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720840" y="1874520"/>
            <a:ext cx="54864" cy="804672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6858000" y="187452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GCP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858000" y="229514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200M+ downloads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572000" y="2834640"/>
            <a:ext cx="1965960" cy="80467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572000" y="2834640"/>
            <a:ext cx="54864" cy="80467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709160" y="283464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Kubernetes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709160" y="325526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500M+ downloads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720840" y="2834640"/>
            <a:ext cx="1965960" cy="80467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A25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720840" y="2834640"/>
            <a:ext cx="54864" cy="804672"/>
          </a:xfrm>
          <a:prstGeom prst="rect">
            <a:avLst/>
          </a:prstGeom>
          <a:solidFill>
            <a:srgbClr val="A259FF"/>
          </a:solidFill>
          <a:ln cap="flat" cmpd="sng" w="12700">
            <a:solidFill>
              <a:srgbClr val="A25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858000" y="283464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🐙 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858000" y="325526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100M+ downloads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65750" y="2971800"/>
            <a:ext cx="3931800" cy="1508700"/>
          </a:xfrm>
          <a:prstGeom prst="rect">
            <a:avLst/>
          </a:prstGeom>
          <a:solidFill>
            <a:srgbClr val="0A0A0A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75500" y="3044949"/>
            <a:ext cx="3730800" cy="1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terraform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  required_providers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    aws =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      source  = "hashicorp/aws"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      version = "~&gt; 5.0"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572000" y="388620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3000+ providers in registry.terraform.io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071812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💡  One provider block = Terraform knows how to talk to that entire cloud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🔌  Provider Versions — Why They Matter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009E84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constraint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72000" y="960120"/>
            <a:ext cx="4206240" cy="384048"/>
          </a:xfrm>
          <a:prstGeom prst="rect">
            <a:avLst/>
          </a:prstGeom>
          <a:solidFill>
            <a:srgbClr val="009E84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4572000" y="96012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65760" y="1344168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FF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02920" y="134416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5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FF5C5C"/>
                </a:solidFill>
                <a:latin typeface="Consolas"/>
                <a:ea typeface="Consolas"/>
                <a:cs typeface="Consolas"/>
                <a:sym typeface="Consolas"/>
              </a:rPr>
              <a:t>version = "5.0.0"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0" y="1344168"/>
            <a:ext cx="420624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709160" y="1344168"/>
            <a:ext cx="3931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Exactly version 5.0.0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65760" y="1938528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02920" y="193852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FFB347"/>
                </a:solidFill>
                <a:latin typeface="Consolas"/>
                <a:ea typeface="Consolas"/>
                <a:cs typeface="Consolas"/>
                <a:sym typeface="Consolas"/>
              </a:rPr>
              <a:t>version = "&gt;= 5.0"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572000" y="1938528"/>
            <a:ext cx="420624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709160" y="1938528"/>
            <a:ext cx="3931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5.0 or anything above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65760" y="2532888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02920" y="253288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version = "~&gt; 5.0"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572000" y="2532888"/>
            <a:ext cx="420624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4709160" y="2532888"/>
            <a:ext cx="3931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5.x only — most common 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65760" y="3127248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502920" y="312724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version = "&gt;= 4.0, &lt; 6.0"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572000" y="3127248"/>
            <a:ext cx="420624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4709160" y="3127248"/>
            <a:ext cx="3931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Between 4.0 and 6.0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65760" y="3822192"/>
            <a:ext cx="841248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365760" y="3822192"/>
            <a:ext cx="64008" cy="530352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48640" y="3822192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terraform init  reads provider block → downloads exact version → stores in .terraform/ folder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071812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 Always use ~&gt; in production — locks major version, allows patch updates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📦  What are Resources?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71812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548640" y="96012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💡  Resources are the actual things you create in the cloud — VPC, EC2, S3, RDS, GKE cluster. Each one is a resource block in your code.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65760" y="175564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Anatomy of a resource block: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65760" y="2121408"/>
            <a:ext cx="4114800" cy="1417320"/>
          </a:xfrm>
          <a:prstGeom prst="rect">
            <a:avLst/>
          </a:prstGeom>
          <a:solidFill>
            <a:srgbClr val="0A0A0A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75488" y="2194560"/>
            <a:ext cx="3913632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resource "aws_s3_bucket" "my_bucket"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bucket = "pythondevops-demo"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tags =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Env       = "prod"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ManagedBy = "terraform"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617720" y="2286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← resource type  (aws_s3_bucket)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617720" y="2542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← your name for it  (my_bucket)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617720" y="27980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← arguments /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663440" y="175564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 resources: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663440" y="2121408"/>
            <a:ext cx="2011680" cy="43891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4754880" y="21214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🌐  aws_vpc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812280" y="2121408"/>
            <a:ext cx="2011680" cy="43891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903720" y="21214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🖥️  aws_instance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663440" y="2633472"/>
            <a:ext cx="2011680" cy="43891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4754880" y="263347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🪣  aws_s3_bucket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812280" y="2633472"/>
            <a:ext cx="2011680" cy="43891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903720" y="263347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☸️  aws_eks_cluster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663440" y="3145536"/>
            <a:ext cx="2011680" cy="43891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754880" y="3145536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🐳  google_container_cluster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812280" y="3145536"/>
            <a:ext cx="2011680" cy="43891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2A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6903720" y="3145536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⚙️  kubernetes_deployment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071812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💡  aws_ prefix = AWS provider.  google_ prefix = GCP provider.  Provider gives you the resources.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📦  Resource Dependencies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Resources reference each other. Terraform auto-figures out the creation order.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65760" y="1389888"/>
            <a:ext cx="4023360" cy="2633472"/>
          </a:xfrm>
          <a:prstGeom prst="rect">
            <a:avLst/>
          </a:prstGeom>
          <a:solidFill>
            <a:srgbClr val="0A0A0A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75488" y="1463040"/>
            <a:ext cx="3822192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# 1. Create VPC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resource "aws_vpc" "main"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cidr_block = "10.0.0.0/16"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# 2. Subnet references VPC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resource "aws_subnet" "sub"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vpc_id     = aws_vpc.main.id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cidr_block = "10.0.1.0/24"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572000" y="1389888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Terraform sees the reference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→ builds VPC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→ then subnet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572000" y="2331720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4572000" y="2331720"/>
            <a:ext cx="54864" cy="530352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4736592" y="233172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aws_vpc.main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736592" y="260604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Created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9"/>
          <p:cNvCxnSpPr/>
          <p:nvPr/>
        </p:nvCxnSpPr>
        <p:spPr>
          <a:xfrm>
            <a:off x="6629400" y="2862072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19"/>
          <p:cNvSpPr/>
          <p:nvPr/>
        </p:nvSpPr>
        <p:spPr>
          <a:xfrm>
            <a:off x="4572000" y="2990088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72000" y="2990088"/>
            <a:ext cx="54864" cy="53035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736592" y="299008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aws_subnet.sub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736592" y="326440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Created after VPC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>
            <a:off x="6629400" y="352044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19"/>
          <p:cNvSpPr/>
          <p:nvPr/>
        </p:nvSpPr>
        <p:spPr>
          <a:xfrm>
            <a:off x="4572000" y="3648456"/>
            <a:ext cx="4114800" cy="530352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572000" y="3648456"/>
            <a:ext cx="54864" cy="53035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4736592" y="3648456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aws_instance.web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736592" y="3922776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Created last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Syntax:   resource_type.resource_name.attribute   →   aws_vpc.main.id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🗂️  What is State?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1A1200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48640" y="960120"/>
            <a:ext cx="8046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💡  State is Terraform's memory. It knows what it already built — so next time, it only changes what's different. Not everything.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65760" y="1874520"/>
            <a:ext cx="2651760" cy="2395728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365760" y="1874520"/>
            <a:ext cx="265176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365760" y="196596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75488" y="263347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First apply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75488" y="31546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State is empty.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Terraform creates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everything.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246120" y="1874520"/>
            <a:ext cx="2651760" cy="2395728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246120" y="1874520"/>
            <a:ext cx="2651760" cy="54864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246120" y="196596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355848" y="263347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Second apply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(no changes)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355848" y="31546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HCL matches state.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Terraform does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nothing.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126480" y="1874520"/>
            <a:ext cx="2651760" cy="2395728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126480" y="1874520"/>
            <a:ext cx="2651760" cy="54864"/>
          </a:xfrm>
          <a:prstGeom prst="rect">
            <a:avLst/>
          </a:prstGeom>
          <a:solidFill>
            <a:srgbClr val="FFB347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126480" y="196596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236208" y="263347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You change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236208" y="31546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HCL differs from state.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Terraform updates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only what changed.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1A1200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⚠️  Never manually edit terraform.tfstate — always let Terraform manage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🗂️  Inside terraform.tfstate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It's just a JSON file. Let's look at what's actually in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65750" y="1353299"/>
            <a:ext cx="4663500" cy="3127200"/>
          </a:xfrm>
          <a:prstGeom prst="rect">
            <a:avLst/>
          </a:prstGeom>
          <a:solidFill>
            <a:srgbClr val="0A0A0A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475500" y="1426476"/>
            <a:ext cx="4462200" cy="30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"version": 4,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"resources": [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"type": "aws_s3_bucket",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"name": "my_bucket",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"instances": [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  "attributes":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    "bucket": "pythondevops-demo",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    "arn": "arn:aws:s3:::...",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    "id": "pythondevops-demo"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 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 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>
            <a:off x="5074920" y="1554480"/>
            <a:ext cx="256032" cy="0"/>
          </a:xfrm>
          <a:prstGeom prst="straightConnector1">
            <a:avLst/>
          </a:prstGeom>
          <a:noFill/>
          <a:ln cap="flat" cmpd="sng" w="10150">
            <a:solidFill>
              <a:srgbClr val="C5C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1"/>
          <p:cNvSpPr/>
          <p:nvPr/>
        </p:nvSpPr>
        <p:spPr>
          <a:xfrm>
            <a:off x="5376672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→  version — state file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>
            <a:off x="5074920" y="2011680"/>
            <a:ext cx="256032" cy="0"/>
          </a:xfrm>
          <a:prstGeom prst="straightConnector1">
            <a:avLst/>
          </a:prstGeom>
          <a:noFill/>
          <a:ln cap="flat" cmpd="sng" w="10150">
            <a:solidFill>
              <a:srgbClr val="C5C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1"/>
          <p:cNvSpPr/>
          <p:nvPr/>
        </p:nvSpPr>
        <p:spPr>
          <a:xfrm>
            <a:off x="5376672" y="18745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→  resources — everything Terraform manages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5074920" y="2468880"/>
            <a:ext cx="256032" cy="0"/>
          </a:xfrm>
          <a:prstGeom prst="straightConnector1">
            <a:avLst/>
          </a:prstGeom>
          <a:noFill/>
          <a:ln cap="flat" cmpd="sng" w="101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21"/>
          <p:cNvSpPr/>
          <p:nvPr/>
        </p:nvSpPr>
        <p:spPr>
          <a:xfrm>
            <a:off x="5376672" y="23317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→  type + name — matches your resource block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5074920" y="2926080"/>
            <a:ext cx="256032" cy="0"/>
          </a:xfrm>
          <a:prstGeom prst="straightConnector1">
            <a:avLst/>
          </a:prstGeom>
          <a:noFill/>
          <a:ln cap="flat" cmpd="sng" w="101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21"/>
          <p:cNvSpPr/>
          <p:nvPr/>
        </p:nvSpPr>
        <p:spPr>
          <a:xfrm>
            <a:off x="5376672" y="27889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→  attributes — real values returned from AWS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5074920" y="3383280"/>
            <a:ext cx="256032" cy="0"/>
          </a:xfrm>
          <a:prstGeom prst="straightConnector1">
            <a:avLst/>
          </a:prstGeom>
          <a:noFill/>
          <a:ln cap="flat" cmpd="sng" w="1015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21"/>
          <p:cNvSpPr/>
          <p:nvPr/>
        </p:nvSpPr>
        <p:spPr>
          <a:xfrm>
            <a:off x="5376672" y="32461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→  arn + id — actual AWS resource identifiers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1A1200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💡  In production — always store state remotely in S3 or GCS. Never commit it to Git.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🗂️  Local vs Remote State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65760" y="960120"/>
            <a:ext cx="3840480" cy="3273552"/>
          </a:xfrm>
          <a:prstGeom prst="rect">
            <a:avLst/>
          </a:prstGeom>
          <a:solidFill>
            <a:srgbClr val="180808"/>
          </a:solidFill>
          <a:ln cap="flat" cmpd="sng" w="10150">
            <a:solidFill>
              <a:srgbClr val="FF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365760" y="960120"/>
            <a:ext cx="3840480" cy="402336"/>
          </a:xfrm>
          <a:prstGeom prst="rect">
            <a:avLst/>
          </a:prstGeom>
          <a:solidFill>
            <a:srgbClr val="FF5C5C"/>
          </a:solidFill>
          <a:ln cap="flat" cmpd="sng" w="12700">
            <a:solidFill>
              <a:srgbClr val="FF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365760" y="9601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Local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48640" y="148132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Saved on your laptop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48640" y="198424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Team can't share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48640" y="248716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No locking → state corruption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48640" y="299008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Lose laptop = lose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548640" y="349300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Fine for learning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937760" y="960120"/>
            <a:ext cx="3840480" cy="3273552"/>
          </a:xfrm>
          <a:prstGeom prst="rect">
            <a:avLst/>
          </a:prstGeom>
          <a:solidFill>
            <a:srgbClr val="071812"/>
          </a:solidFill>
          <a:ln cap="flat" cmpd="sng" w="101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4937760" y="960120"/>
            <a:ext cx="3840480" cy="402336"/>
          </a:xfrm>
          <a:prstGeom prst="rect">
            <a:avLst/>
          </a:prstGeom>
          <a:solidFill>
            <a:srgbClr val="009E84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4937760" y="9601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Remote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120640" y="148132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Stored in S3 / GCS bucket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5120640" y="198424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Whole team shares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120640" y="248716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State locking via DynamoDB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120640" y="299008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Survives laptop death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5120640" y="349300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•  Required for production 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206240" y="237744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2000"/>
              <a:buFont typeface="Arial Black"/>
              <a:buNone/>
            </a:pPr>
            <a:r>
              <a:rPr b="1" i="0" lang="en" sz="2000" u="none" cap="none" strike="noStrike">
                <a:solidFill>
                  <a:srgbClr val="FFB347"/>
                </a:solidFill>
                <a:latin typeface="Arial Black"/>
                <a:ea typeface="Arial Black"/>
                <a:cs typeface="Arial Black"/>
                <a:sym typeface="Arial Black"/>
              </a:rPr>
              <a:t>VS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0A1020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🔜  We'll set up remote state with S3 + DynamoDB in the modules episode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⚡  Quick Recap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365760" y="1005840"/>
            <a:ext cx="8412480" cy="932688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365760" y="1005840"/>
            <a:ext cx="64008" cy="932688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02920" y="1005840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234440" y="1078992"/>
            <a:ext cx="722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Providers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1234440" y="1444752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Plugins that let Terraform talk to cloud APIs. Declare → init downloads → handles all API calls.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65760" y="2084832"/>
            <a:ext cx="8412480" cy="932688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365760" y="2084832"/>
            <a:ext cx="64008" cy="93268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02920" y="2084832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1234440" y="2157984"/>
            <a:ext cx="722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Resources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234440" y="2523744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The actual things you create — VPC, EC2, S3. Reference other resources by name, Terraform handles order.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365760" y="3163824"/>
            <a:ext cx="8412480" cy="932688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365760" y="3163824"/>
            <a:ext cx="64008" cy="932688"/>
          </a:xfrm>
          <a:prstGeom prst="rect">
            <a:avLst/>
          </a:prstGeom>
          <a:solidFill>
            <a:srgbClr val="FFB347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02920" y="3163824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1234440" y="3236976"/>
            <a:ext cx="722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1234440" y="3602736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DD8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C5CDD8"/>
                </a:solidFill>
                <a:latin typeface="Calibri"/>
                <a:ea typeface="Calibri"/>
                <a:cs typeface="Calibri"/>
                <a:sym typeface="Calibri"/>
              </a:rPr>
              <a:t>Terraform's memory — tracks everything it built. Local for learning, remote S3/GCS for production.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🔜  Next  →  Variables &amp; Outputs — make your Terraform code reusable     |     Subscribe so you don't miss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